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This deck is the executive summary of a 5-phase portfolio project analysing Notion — a $11B B2B SaaS platform. Walk the audience through what each phase covers and emphasise that every insight is data-backed.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phases — think of this as a mini consulting engagement. Each phase builds on the last. We'll spend the most time on Phase 3 (case study) and Phase 4 (PRD) since those show depth of thinking.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Notion is a category leader but faces a structural threat from Microsoft Loop — same horizontal workspace concept with 300M M365 users as distribution. That's the competitor to watch.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key insight: enterprise users are 2% of the base but 42% of revenue. And Plus users — 7% of the base — are churning at 4.2%/month. AI users churn 38% less, but AI is locked in the Business tier. That's the gap we're solving.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root causes, one primary lever. The value gap (Root Cause 1) is the fastest to fix and has the most direct data backing. Root Cause 2 is a pricing strategy decision. Root Cause 3 is a 12-month engineering investment.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PRD has 11 full sections: goals, non-goals, 2 personas, 4 user stories with acceptance criteria, 12 functional requirements, 7 non-functional requirements, 7 edge cases, 5 open questions, an A/B test plan, a phased rollout, and a rollback criteria. This is a production-grade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R1 is the must-ship. It solves the #1 cited churn reason in one sprint. R2 is a pricing strategy call that needs VP sign-off. R3 is a 12-month platform bet. If you had to pick one to present to a CPO, it's R1 — highest ROI, lowest effort, strongest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Always define metrics before you build. KR1 is the north star — everything else is a leading indicator. The A/B test design is what separates a junior analyst from a strong one — it shows you care about causation, not just correlation.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confidence. This portfolio demonstrates every core skill a BA or PM interviewer looks for: market understanding, data fluency, structured problem-solving, and product craft. The thread from Phase 1 through Phase 5 is intentional — it mirrors how real product work happens.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D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840480"/>
            <a:ext cx="9144000" cy="1303020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8DCFC"/>
                </a:solidFill>
              </a:rPr>
              <a:t>PORTFOLIO PROJECT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Notion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8DCFC"/>
                </a:solidFill>
              </a:rPr>
              <a:t>B2B SaaS  ·  Product &amp; Business Analysis  ·  End-to-End Portfolio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39776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Market Analysis  ·  Data Insights  ·  Case Study  ·  PRD  ·  Executive Summary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0" y="39776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June 2026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CFC"/>
                </a:solidFill>
              </a:rPr>
              <a:t>Product / Business Analyst  ·  SaaS Domain  ·  Entry Level Portfolio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2D5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8DCFC"/>
                </a:solidFill>
              </a:rPr>
              <a:t>00  OVERVIEW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29260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portfolio covers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38912" y="1124712"/>
            <a:ext cx="512064" cy="512064"/>
          </a:xfrm>
          <a:prstGeom prst="roundRect">
            <a:avLst>
              <a:gd name="adj" fmla="val 14286"/>
            </a:avLst>
          </a:prstGeom>
          <a:solidFill>
            <a:srgbClr val="0B2D5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" y="1161288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1115568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01  Market Analysis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51560" y="1380744"/>
            <a:ext cx="6949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Notion's positioning, TAM/SAM/SOM, personas, competitive landscape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65760" y="1801368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38912" y="1874520"/>
            <a:ext cx="512064" cy="512064"/>
          </a:xfrm>
          <a:prstGeom prst="roundRect">
            <a:avLst>
              <a:gd name="adj" fmla="val 14286"/>
            </a:avLst>
          </a:prstGeom>
          <a:solidFill>
            <a:srgbClr val="0B2D5E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911096"/>
            <a:ext cx="310896" cy="31089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51560" y="1865376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02  Data Analysis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051560" y="2130552"/>
            <a:ext cx="6949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Revenue growth, churn by plan, feature adoption, geographic breakdown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365760" y="2551176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EBF3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38912" y="2624328"/>
            <a:ext cx="512064" cy="512064"/>
          </a:xfrm>
          <a:prstGeom prst="roundRect">
            <a:avLst>
              <a:gd name="adj" fmla="val 14286"/>
            </a:avLst>
          </a:prstGeom>
          <a:solidFill>
            <a:srgbClr val="1A56DB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2660904"/>
            <a:ext cx="310896" cy="31089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51560" y="2615184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6DB"/>
                </a:solidFill>
              </a:rPr>
              <a:t>03  Case Study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051560" y="2880360"/>
            <a:ext cx="6949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Root cause analysis of Plus plan churn — $168M annual revenue leakage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365760" y="3300984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38912" y="3374136"/>
            <a:ext cx="512064" cy="512064"/>
          </a:xfrm>
          <a:prstGeom prst="roundRect">
            <a:avLst>
              <a:gd name="adj" fmla="val 14286"/>
            </a:avLst>
          </a:prstGeom>
          <a:solidFill>
            <a:srgbClr val="0B2D5E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3410712"/>
            <a:ext cx="310896" cy="31089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051560" y="3364992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04  PRD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1051560" y="3630168"/>
            <a:ext cx="6949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Full product requirements for Notion AI on Plus — user stories, edge cases, rollout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365760" y="405079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38912" y="4123944"/>
            <a:ext cx="512064" cy="512064"/>
          </a:xfrm>
          <a:prstGeom prst="roundRect">
            <a:avLst>
              <a:gd name="adj" fmla="val 14286"/>
            </a:avLst>
          </a:prstGeom>
          <a:solidFill>
            <a:srgbClr val="0B2D5E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" y="4160520"/>
            <a:ext cx="310896" cy="310896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051560" y="4114800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05  Recommendations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1051560" y="4379976"/>
            <a:ext cx="6949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3 strategic levers to reduce churn from 4.2% → 2.5% in two quarters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2D5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8DCFC"/>
                </a:solidFill>
              </a:rPr>
              <a:t>01  MARKET ANALYSIS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29260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Notion at a glance — $11B, 100M users, category leader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19202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18872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$600M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65760" y="1773936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2025 Revenue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201168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56DB"/>
                </a:solidFill>
              </a:rPr>
              <a:t>↑ 50% YoY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87168" y="1024128"/>
            <a:ext cx="19202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87168" y="118872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100M+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487168" y="1773936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Total Users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487168" y="201168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56DB"/>
                </a:solidFill>
              </a:rPr>
              <a:t>85 countries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08576" y="1024128"/>
            <a:ext cx="19202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08576" y="118872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$11B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608576" y="1773936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Valuation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08576" y="201168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56DB"/>
                </a:solidFill>
              </a:rPr>
              <a:t>Jan 2026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729984" y="1024128"/>
            <a:ext cx="19202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729984" y="118872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&gt;50%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729984" y="1773936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Fortune 500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729984" y="201168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56DB"/>
                </a:solidFill>
              </a:rPr>
              <a:t>Enterprise presence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2560320"/>
            <a:ext cx="3657600" cy="2194560"/>
          </a:xfrm>
          <a:prstGeom prst="ellipse">
            <a:avLst/>
          </a:prstGeom>
          <a:solidFill>
            <a:srgbClr val="EBF3FF"/>
          </a:solidFill>
          <a:ln/>
        </p:spPr>
      </p:sp>
      <p:sp>
        <p:nvSpPr>
          <p:cNvPr id="22" name="Shape 20"/>
          <p:cNvSpPr/>
          <p:nvPr/>
        </p:nvSpPr>
        <p:spPr>
          <a:xfrm>
            <a:off x="822960" y="2834640"/>
            <a:ext cx="2926080" cy="1645920"/>
          </a:xfrm>
          <a:prstGeom prst="ellipse">
            <a:avLst/>
          </a:prstGeom>
          <a:solidFill>
            <a:srgbClr val="BFDBFE"/>
          </a:solidFill>
          <a:ln/>
        </p:spPr>
      </p:sp>
      <p:sp>
        <p:nvSpPr>
          <p:cNvPr id="23" name="Shape 21"/>
          <p:cNvSpPr/>
          <p:nvPr/>
        </p:nvSpPr>
        <p:spPr>
          <a:xfrm>
            <a:off x="1188720" y="3127248"/>
            <a:ext cx="2194560" cy="1097280"/>
          </a:xfrm>
          <a:prstGeom prst="ellipse">
            <a:avLst/>
          </a:prstGeom>
          <a:solidFill>
            <a:srgbClr val="1A56DB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26060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6DB"/>
                </a:solidFill>
              </a:rPr>
              <a:t>TAM  $57B+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68680" y="28803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SAM  $18B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280160" y="32461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SOM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$3–4B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0" y="251460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Competitive position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2834640"/>
          <a:ext cx="4206240" cy="1920240"/>
        </p:xfrm>
        <a:graphic>
          <a:graphicData uri="http://schemas.openxmlformats.org/drawingml/2006/table">
            <a:tbl>
              <a:tblPr/>
              <a:tblGrid>
                <a:gridCol w="1280160"/>
                <a:gridCol w="1645920"/>
                <a:gridCol w="128016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Tool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Strength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Risk to Notion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Confluence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Enterprise &amp; Jira lock-in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Low — poor UX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ClickUp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Deep task mgmt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Medium — power users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Microsoft Loop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M365 distribution + Copilot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HIGH — scale risk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Coda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Formula power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Low — niche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2D5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8DCFC"/>
                </a:solidFill>
              </a:rPr>
              <a:t>02  DATA ANALYSIS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29260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churn signal — Plus plan is the leaky bucket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2560320" cy="2011680"/>
          </a:xfrm>
          <a:prstGeom prst="roundRect">
            <a:avLst>
              <a:gd name="adj" fmla="val 5455"/>
            </a:avLst>
          </a:prstGeom>
          <a:solidFill>
            <a:srgbClr val="FEF2F2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23444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4.2%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365760" y="199339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Plus monthly churn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22860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~40% of Plus users lost per year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108960" y="1051560"/>
            <a:ext cx="2560320" cy="2011680"/>
          </a:xfrm>
          <a:prstGeom prst="roundRect">
            <a:avLst>
              <a:gd name="adj" fmla="val 5455"/>
            </a:avLst>
          </a:prstGeom>
          <a:solidFill>
            <a:srgbClr val="F0FDF4"/>
          </a:solidFill>
          <a:ln/>
        </p:spPr>
      </p:sp>
      <p:sp>
        <p:nvSpPr>
          <p:cNvPr id="10" name="Text 8"/>
          <p:cNvSpPr/>
          <p:nvPr/>
        </p:nvSpPr>
        <p:spPr>
          <a:xfrm>
            <a:off x="3108960" y="123444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1.8%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3108960" y="199339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Business monthly churn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108960" y="22860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2.3× lower than Plus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852160" y="1051560"/>
            <a:ext cx="2926080" cy="2011680"/>
          </a:xfrm>
          <a:prstGeom prst="roundRect">
            <a:avLst>
              <a:gd name="adj" fmla="val 5455"/>
            </a:avLst>
          </a:prstGeom>
          <a:solidFill>
            <a:srgbClr val="EBF3FF"/>
          </a:solidFill>
          <a:ln/>
        </p:spPr>
      </p:sp>
      <p:sp>
        <p:nvSpPr>
          <p:cNvPr id="14" name="Text 12"/>
          <p:cNvSpPr/>
          <p:nvPr/>
        </p:nvSpPr>
        <p:spPr>
          <a:xfrm>
            <a:off x="5852160" y="123444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A56D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38%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5852160" y="1993392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Less churn for AI users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852160" y="228600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AI access = #1 retention driver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5760" y="324612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Revenue by plan  (2% of users → 42% of revenue)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3657600"/>
            <a:ext cx="3456432" cy="457200"/>
          </a:xfrm>
          <a:prstGeom prst="roundRect">
            <a:avLst>
              <a:gd name="adj" fmla="val 10000"/>
            </a:avLst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3657600"/>
            <a:ext cx="3456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42%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" y="4160520"/>
            <a:ext cx="35478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Enterprise 2% users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877056" y="3657600"/>
            <a:ext cx="2715768" cy="457200"/>
          </a:xfrm>
          <a:prstGeom prst="roundRect">
            <a:avLst>
              <a:gd name="adj" fmla="val 10000"/>
            </a:avLst>
          </a:prstGeom>
          <a:solidFill>
            <a:srgbClr val="1A56DB"/>
          </a:solidFill>
          <a:ln/>
        </p:spPr>
      </p:sp>
      <p:sp>
        <p:nvSpPr>
          <p:cNvPr id="22" name="Text 20"/>
          <p:cNvSpPr/>
          <p:nvPr/>
        </p:nvSpPr>
        <p:spPr>
          <a:xfrm>
            <a:off x="3877056" y="3657600"/>
            <a:ext cx="2715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33%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877056" y="4160520"/>
            <a:ext cx="28072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Business 4%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647688" y="3657600"/>
            <a:ext cx="1645920" cy="457200"/>
          </a:xfrm>
          <a:prstGeom prst="roundRect">
            <a:avLst>
              <a:gd name="adj" fmla="val 10000"/>
            </a:avLst>
          </a:prstGeom>
          <a:solidFill>
            <a:srgbClr val="3B82F6"/>
          </a:solidFill>
          <a:ln/>
        </p:spPr>
      </p:sp>
      <p:sp>
        <p:nvSpPr>
          <p:cNvPr id="25" name="Text 23"/>
          <p:cNvSpPr/>
          <p:nvPr/>
        </p:nvSpPr>
        <p:spPr>
          <a:xfrm>
            <a:off x="6647688" y="36576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20%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647688" y="416052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Plus 7%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348472" y="3657600"/>
            <a:ext cx="411480" cy="457200"/>
          </a:xfrm>
          <a:prstGeom prst="roundRect">
            <a:avLst>
              <a:gd name="adj" fmla="val 11111"/>
            </a:avLst>
          </a:prstGeom>
          <a:solidFill>
            <a:srgbClr val="C8DCFC"/>
          </a:solidFill>
          <a:ln/>
        </p:spPr>
      </p:sp>
      <p:sp>
        <p:nvSpPr>
          <p:cNvPr id="28" name="Text 26"/>
          <p:cNvSpPr/>
          <p:nvPr/>
        </p:nvSpPr>
        <p:spPr>
          <a:xfrm>
            <a:off x="8348472" y="4160520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Free 87%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2D5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8DCFC"/>
                </a:solidFill>
              </a:rPr>
              <a:t>03  CASE STUDY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29260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Root cause: why Plus users leave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2F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9728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</a:rPr>
              <a:t>Problem Statement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3258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Notion loses ~$168M/year in Plus ARR through 4.2%/month churn — primarily driven by a perceived value gap created when AI was moved to the Business tier in 2024.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828800"/>
            <a:ext cx="8412480" cy="841248"/>
          </a:xfrm>
          <a:prstGeom prst="roundRect">
            <a:avLst>
              <a:gd name="adj" fmla="val 10870"/>
            </a:avLst>
          </a:prstGeom>
          <a:solidFill>
            <a:srgbClr val="FEF2F2"/>
          </a:solidFill>
          <a:ln/>
        </p:spPr>
      </p:sp>
      <p:sp>
        <p:nvSpPr>
          <p:cNvPr id="9" name="Shape 7"/>
          <p:cNvSpPr/>
          <p:nvPr/>
        </p:nvSpPr>
        <p:spPr>
          <a:xfrm>
            <a:off x="502920" y="1938528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DC2626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193852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24128" y="1920240"/>
            <a:ext cx="7406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Root cause 01 — Value gap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24128" y="2194560"/>
            <a:ext cx="7406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AI locked in Business. Users who want AI can't justify $18/mo. AI users churn 38% less — so locking AI out directly drives Plus churn.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2788920"/>
            <a:ext cx="8412480" cy="841248"/>
          </a:xfrm>
          <a:prstGeom prst="roundRect">
            <a:avLst>
              <a:gd name="adj" fmla="val 10870"/>
            </a:avLst>
          </a:prstGeom>
          <a:solidFill>
            <a:srgbClr val="FFFBEB"/>
          </a:solidFill>
          <a:ln/>
        </p:spPr>
      </p:sp>
      <p:sp>
        <p:nvSpPr>
          <p:cNvPr id="14" name="Shape 12"/>
          <p:cNvSpPr/>
          <p:nvPr/>
        </p:nvSpPr>
        <p:spPr>
          <a:xfrm>
            <a:off x="502920" y="2898648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D97706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289864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24128" y="2880360"/>
            <a:ext cx="7406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Root cause 02 — Pricing gap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24128" y="3154680"/>
            <a:ext cx="7406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80% price jump ($10 → $18) with no intermediate option. Only 12% of Plus users upgrade vs 25%+ SaaS benchmark. The gap kills the upgrade path.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3749040"/>
            <a:ext cx="8412480" cy="841248"/>
          </a:xfrm>
          <a:prstGeom prst="roundRect">
            <a:avLst>
              <a:gd name="adj" fmla="val 10870"/>
            </a:avLst>
          </a:prstGeom>
          <a:solidFill>
            <a:srgbClr val="EBF3FF"/>
          </a:solidFill>
          <a:ln/>
        </p:spPr>
      </p:sp>
      <p:sp>
        <p:nvSpPr>
          <p:cNvPr id="19" name="Shape 17"/>
          <p:cNvSpPr/>
          <p:nvPr/>
        </p:nvSpPr>
        <p:spPr>
          <a:xfrm>
            <a:off x="502920" y="3858768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1A56DB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385876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24128" y="3840480"/>
            <a:ext cx="7406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Root cause 03 — Mobile gap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24128" y="4114800"/>
            <a:ext cx="7406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80%+ of users are in mobile-first markets (India, Brazil, Korea). Mobile app rated 3.6/5 vs 4.4/5 for web. APAC mobile churn is 1.4× desktop.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2D5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8DCFC"/>
                </a:solidFill>
              </a:rPr>
              <a:t>04  PRD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29260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Feature: Notion AI for Plus — what we're building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8412480" cy="566928"/>
          </a:xfrm>
          <a:prstGeom prst="roundRect">
            <a:avLst>
              <a:gd name="adj" fmla="val 16129"/>
            </a:avLst>
          </a:prstGeom>
          <a:solidFill>
            <a:srgbClr val="EBF3FF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115568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Feature: Include 20 Notion AI requests/day in the Plus plan — removing the paywall that drives churn, without giving away unlimited AI (Business tier differentiator).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65760" y="1764792"/>
            <a:ext cx="4114800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" y="1874520"/>
            <a:ext cx="548640" cy="237744"/>
          </a:xfrm>
          <a:prstGeom prst="roundRect">
            <a:avLst>
              <a:gd name="adj" fmla="val 19231"/>
            </a:avLst>
          </a:prstGeom>
          <a:solidFill>
            <a:srgbClr val="EBF3FF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" y="1874520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56DB"/>
                </a:solidFill>
              </a:rPr>
              <a:t>US-01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43000" y="185623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AI access on Plus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5488" y="2221992"/>
            <a:ext cx="38404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Plus users see &amp; use all standard AI actions (Write, Summarise, Fix, Translate, Ask AI)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63440" y="1764792"/>
            <a:ext cx="4114800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73168" y="1874520"/>
            <a:ext cx="548640" cy="237744"/>
          </a:xfrm>
          <a:prstGeom prst="roundRect">
            <a:avLst>
              <a:gd name="adj" fmla="val 19231"/>
            </a:avLst>
          </a:prstGeom>
          <a:solidFill>
            <a:srgbClr val="EBF3FF"/>
          </a:solidFill>
          <a:ln/>
        </p:spPr>
      </p:sp>
      <p:sp>
        <p:nvSpPr>
          <p:cNvPr id="14" name="Text 12"/>
          <p:cNvSpPr/>
          <p:nvPr/>
        </p:nvSpPr>
        <p:spPr>
          <a:xfrm>
            <a:off x="4773168" y="1874520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56DB"/>
                </a:solidFill>
              </a:rPr>
              <a:t>US-02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40680" y="185623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Usage counter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73168" y="2221992"/>
            <a:ext cx="38404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Real-time 'X of 20 used today' counter with soft nudge at 15/20 and hard limit modal at 20/20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3182112"/>
            <a:ext cx="4114800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" y="3291840"/>
            <a:ext cx="548640" cy="237744"/>
          </a:xfrm>
          <a:prstGeom prst="roundRect">
            <a:avLst>
              <a:gd name="adj" fmla="val 19231"/>
            </a:avLst>
          </a:prstGeom>
          <a:solidFill>
            <a:srgbClr val="EBF3FF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" y="3291840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56DB"/>
                </a:solidFill>
              </a:rPr>
              <a:t>US-03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43000" y="327355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Upgrade flow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5488" y="3639312"/>
            <a:ext cx="38404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In-product side-sheet checkout — never leaves the page. Upgrade takes effect instantly.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663440" y="3182112"/>
            <a:ext cx="4114800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73168" y="3291840"/>
            <a:ext cx="548640" cy="237744"/>
          </a:xfrm>
          <a:prstGeom prst="roundRect">
            <a:avLst>
              <a:gd name="adj" fmla="val 19231"/>
            </a:avLst>
          </a:prstGeom>
          <a:solidFill>
            <a:srgbClr val="EBF3FF"/>
          </a:solidFill>
          <a:ln/>
        </p:spPr>
      </p:sp>
      <p:sp>
        <p:nvSpPr>
          <p:cNvPr id="24" name="Text 22"/>
          <p:cNvSpPr/>
          <p:nvPr/>
        </p:nvSpPr>
        <p:spPr>
          <a:xfrm>
            <a:off x="4773168" y="3291840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56DB"/>
                </a:solidFill>
              </a:rPr>
              <a:t>US-04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440680" y="327355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Onboarding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773168" y="3639312"/>
            <a:ext cx="38404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One-time tooltip for new Plus users; in-app banner for existing users on next login post-launch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65760" y="461772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Key constraints: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691640" y="4617720"/>
            <a:ext cx="1737360" cy="256032"/>
          </a:xfrm>
          <a:prstGeom prst="roundRect">
            <a:avLst>
              <a:gd name="adj" fmla="val 21429"/>
            </a:avLst>
          </a:prstGeom>
          <a:solidFill>
            <a:srgbClr val="0B2D5E"/>
          </a:solidFill>
          <a:ln/>
        </p:spPr>
      </p:sp>
      <p:sp>
        <p:nvSpPr>
          <p:cNvPr id="29" name="Text 27"/>
          <p:cNvSpPr/>
          <p:nvPr/>
        </p:nvSpPr>
        <p:spPr>
          <a:xfrm>
            <a:off x="1691640" y="461772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20 req/day cap (not unlimited)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538728" y="4617720"/>
            <a:ext cx="1737360" cy="256032"/>
          </a:xfrm>
          <a:prstGeom prst="roundRect">
            <a:avLst>
              <a:gd name="adj" fmla="val 21429"/>
            </a:avLst>
          </a:prstGeom>
          <a:solidFill>
            <a:srgbClr val="0B2D5E"/>
          </a:solidFill>
          <a:ln/>
        </p:spPr>
      </p:sp>
      <p:sp>
        <p:nvSpPr>
          <p:cNvPr id="31" name="Text 29"/>
          <p:cNvSpPr/>
          <p:nvPr/>
        </p:nvSpPr>
        <p:spPr>
          <a:xfrm>
            <a:off x="3538728" y="461772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AI Agents = Business only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385816" y="4617720"/>
            <a:ext cx="1737360" cy="256032"/>
          </a:xfrm>
          <a:prstGeom prst="roundRect">
            <a:avLst>
              <a:gd name="adj" fmla="val 21429"/>
            </a:avLst>
          </a:prstGeom>
          <a:solidFill>
            <a:srgbClr val="0B2D5E"/>
          </a:solidFill>
          <a:ln/>
        </p:spPr>
      </p:sp>
      <p:sp>
        <p:nvSpPr>
          <p:cNvPr id="33" name="Text 31"/>
          <p:cNvSpPr/>
          <p:nvPr/>
        </p:nvSpPr>
        <p:spPr>
          <a:xfrm>
            <a:off x="5385816" y="461772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Mobile parity within 2 weeks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232904" y="4617720"/>
            <a:ext cx="1737360" cy="256032"/>
          </a:xfrm>
          <a:prstGeom prst="roundRect">
            <a:avLst>
              <a:gd name="adj" fmla="val 21429"/>
            </a:avLst>
          </a:prstGeom>
          <a:solidFill>
            <a:srgbClr val="0B2D5E"/>
          </a:solidFill>
          <a:ln/>
        </p:spPr>
      </p:sp>
      <p:sp>
        <p:nvSpPr>
          <p:cNvPr id="35" name="Text 33"/>
          <p:cNvSpPr/>
          <p:nvPr/>
        </p:nvSpPr>
        <p:spPr>
          <a:xfrm>
            <a:off x="7232904" y="461772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Zero latency degradation vs Business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2D5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8DCFC"/>
                </a:solidFill>
              </a:rPr>
              <a:t>05  RECOMMENDATIONS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29260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levers to fix Plus churn — phased by impact &amp; effort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8412480" cy="1097280"/>
          </a:xfrm>
          <a:prstGeom prst="roundRect">
            <a:avLst>
              <a:gd name="adj" fmla="val 10000"/>
            </a:avLst>
          </a:prstGeom>
          <a:solidFill>
            <a:srgbClr val="EBF3FF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16128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A56DB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1612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78992" y="114300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56DB"/>
                </a:solidFill>
              </a:rPr>
              <a:t>P0 — Critical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0" y="11430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Q3 2026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78992" y="1353312"/>
            <a:ext cx="6217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Include Notion AI in Plus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78992" y="1618488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20 requests/day. Directly addresses Root Cause 1. AI users churn 38% less. Fastest to ship — entitlement change + UI update.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63640" y="1380744"/>
            <a:ext cx="2377440" cy="475488"/>
          </a:xfrm>
          <a:prstGeom prst="roundRect">
            <a:avLst>
              <a:gd name="adj" fmla="val 15385"/>
            </a:avLst>
          </a:prstGeom>
          <a:solidFill>
            <a:srgbClr val="1A56DB"/>
          </a:solidFill>
          <a:ln/>
        </p:spPr>
      </p:sp>
      <p:sp>
        <p:nvSpPr>
          <p:cNvPr id="13" name="Text 11"/>
          <p:cNvSpPr/>
          <p:nvPr/>
        </p:nvSpPr>
        <p:spPr>
          <a:xfrm>
            <a:off x="6263640" y="1380744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−1.5pp churn  ·  +$40M retained ARR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2286000"/>
            <a:ext cx="8412480" cy="1097280"/>
          </a:xfrm>
          <a:prstGeom prst="roundRect">
            <a:avLst>
              <a:gd name="adj" fmla="val 10000"/>
            </a:avLst>
          </a:prstGeom>
          <a:solidFill>
            <a:srgbClr val="EDE9FE"/>
          </a:solidFill>
          <a:ln/>
        </p:spPr>
      </p:sp>
      <p:sp>
        <p:nvSpPr>
          <p:cNvPr id="15" name="Shape 13"/>
          <p:cNvSpPr/>
          <p:nvPr/>
        </p:nvSpPr>
        <p:spPr>
          <a:xfrm>
            <a:off x="502920" y="23957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7C3AED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23957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78992" y="237744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</a:rPr>
              <a:t>P1 — High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315200" y="23774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Q4 2026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78992" y="2587752"/>
            <a:ext cx="6217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Launch $14 Plus Pro tier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78992" y="2852928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Bridge the $10→$18 gap. Full AI + advanced DBs + automation basics. Captures churning Plus users before they leave Notion entirely.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263640" y="2615184"/>
            <a:ext cx="2377440" cy="475488"/>
          </a:xfrm>
          <a:prstGeom prst="roundRect">
            <a:avLst>
              <a:gd name="adj" fmla="val 15385"/>
            </a:avLst>
          </a:prstGeom>
          <a:solidFill>
            <a:srgbClr val="7C3AED"/>
          </a:solidFill>
          <a:ln/>
        </p:spPr>
      </p:sp>
      <p:sp>
        <p:nvSpPr>
          <p:cNvPr id="22" name="Text 20"/>
          <p:cNvSpPr/>
          <p:nvPr/>
        </p:nvSpPr>
        <p:spPr>
          <a:xfrm>
            <a:off x="6263640" y="2615184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−0.8pp churn  ·  +$28M ARPU uplift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65760" y="3520440"/>
            <a:ext cx="8412480" cy="1097280"/>
          </a:xfrm>
          <a:prstGeom prst="roundRect">
            <a:avLst>
              <a:gd name="adj" fmla="val 10000"/>
            </a:avLst>
          </a:prstGeom>
          <a:solidFill>
            <a:srgbClr val="FFFBEB"/>
          </a:solidFill>
          <a:ln/>
        </p:spPr>
      </p:sp>
      <p:sp>
        <p:nvSpPr>
          <p:cNvPr id="24" name="Shape 22"/>
          <p:cNvSpPr/>
          <p:nvPr/>
        </p:nvSpPr>
        <p:spPr>
          <a:xfrm>
            <a:off x="502920" y="363016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D97706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" y="36301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R3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78992" y="361188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</a:rPr>
              <a:t>P2 — Medium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61188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Q1–Q2 2027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078992" y="3822192"/>
            <a:ext cx="6217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Mobile experience overhaul for APAC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78992" y="4087368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Offline sync, block editor v2, Korea/Japan/India localisation. Addresses Root Cause 3 for 80%+ of Notion's global user base.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263640" y="3849624"/>
            <a:ext cx="2377440" cy="475488"/>
          </a:xfrm>
          <a:prstGeom prst="roundRect">
            <a:avLst>
              <a:gd name="adj" fmla="val 15385"/>
            </a:avLst>
          </a:prstGeom>
          <a:solidFill>
            <a:srgbClr val="D97706"/>
          </a:solidFill>
          <a:ln/>
        </p:spPr>
      </p:sp>
      <p:sp>
        <p:nvSpPr>
          <p:cNvPr id="31" name="Text 29"/>
          <p:cNvSpPr/>
          <p:nvPr/>
        </p:nvSpPr>
        <p:spPr>
          <a:xfrm>
            <a:off x="6263640" y="3849624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−1.0pp APAC churn  ·  +$22M APAC revenue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65760" y="4736592"/>
            <a:ext cx="8412480" cy="256032"/>
          </a:xfrm>
          <a:prstGeom prst="roundRect">
            <a:avLst>
              <a:gd name="adj" fmla="val 28571"/>
            </a:avLst>
          </a:prstGeom>
          <a:solidFill>
            <a:srgbClr val="0B2D5E"/>
          </a:solidFill>
          <a:ln/>
        </p:spPr>
      </p:sp>
      <p:sp>
        <p:nvSpPr>
          <p:cNvPr id="33" name="Text 31"/>
          <p:cNvSpPr/>
          <p:nvPr/>
        </p:nvSpPr>
        <p:spPr>
          <a:xfrm>
            <a:off x="365760" y="4736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Combined potential impact:  Plus churn 4.2% → 2.5%  ·  +$116M additional ARR  ·  Plus NPS 28 → 38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2D5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8DCFC"/>
                </a:solidFill>
              </a:rPr>
              <a:t>05  SUCCESS METRICS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29260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we'll know if it's working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8412480" cy="530352"/>
          </a:xfrm>
          <a:prstGeom prst="roundRect">
            <a:avLst>
              <a:gd name="adj" fmla="val 17241"/>
            </a:avLst>
          </a:prstGeom>
          <a:solidFill>
            <a:srgbClr val="0B2D5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88136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Objective: Make Notion Plus the stickiest entry-level B2B SaaS workspace — reducing churn to below 2.5%/month within 2 quarters.</a:t>
            </a:r>
            <a:endParaRPr lang="en-US" sz="11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691640"/>
          <a:ext cx="8412480" cy="2560320"/>
        </p:xfrm>
        <a:graphic>
          <a:graphicData uri="http://schemas.openxmlformats.org/drawingml/2006/table">
            <a:tbl>
              <a:tblPr/>
              <a:tblGrid>
                <a:gridCol w="640080"/>
                <a:gridCol w="2834640"/>
                <a:gridCol w="1371600"/>
                <a:gridCol w="1554480"/>
                <a:gridCol w="201168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Baseline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Target (6mo)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Why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6D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56DB"/>
                          </a:solidFill>
                        </a:rPr>
                        <a:t>KR1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Plus monthly churn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</a:rPr>
                        <a:t>4.2%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</a:rPr>
                        <a:t>&lt; 2.5%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</a:rPr>
                        <a:t>Primary OKR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56DB"/>
                          </a:solidFill>
                        </a:rPr>
                        <a:t>KR2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Plus → Business upgrade rate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</a:rPr>
                        <a:t>12%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</a:rPr>
                        <a:t>18%+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</a:rPr>
                        <a:t>Revenue expansion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56DB"/>
                          </a:solidFill>
                        </a:rPr>
                        <a:t>KR3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Notion AI adoption (Plus)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</a:rPr>
                        <a:t>0%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</a:rPr>
                        <a:t>45%+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</a:rPr>
                        <a:t>Feature stickiness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56DB"/>
                          </a:solidFill>
                        </a:rPr>
                        <a:t>KR4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Plus user NPS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</a:rPr>
                        <a:t>28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</a:rPr>
                        <a:t>38+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</a:rPr>
                        <a:t>Perceived value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56DB"/>
                          </a:solidFill>
                        </a:rPr>
                        <a:t>KR5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Plus ARR retained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</a:rPr>
                        <a:t>$252M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</a:rPr>
                        <a:t>$290M+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</a:rPr>
                        <a:t>Revenue impact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365760" y="4370832"/>
            <a:ext cx="8412480" cy="566928"/>
          </a:xfrm>
          <a:prstGeom prst="roundRect">
            <a:avLst>
              <a:gd name="adj" fmla="val 16129"/>
            </a:avLst>
          </a:prstGeom>
          <a:solidFill>
            <a:srgbClr val="EBF3FF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4416552"/>
            <a:ext cx="8046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Measurement approach: A/B test — 50% of Plus users get AI on day 1 (treatment), 50% remain locked (control) for 4 weeks to isolate causal impact on churn. Weekly metric reviews in first 8 weeks post-launch.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2D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DCFC"/>
                </a:solidFill>
              </a:rPr>
              <a:t>Portfolio Summary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phases. 1 coherent story.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65760" y="1874520"/>
            <a:ext cx="1508760" cy="2651760"/>
          </a:xfrm>
          <a:prstGeom prst="roundRect">
            <a:avLst>
              <a:gd name="adj" fmla="val 7273"/>
            </a:avLst>
          </a:prstGeom>
          <a:solidFill>
            <a:srgbClr val="1E3A6E"/>
          </a:solidFill>
          <a:ln/>
        </p:spPr>
      </p:sp>
      <p:sp>
        <p:nvSpPr>
          <p:cNvPr id="5" name="Shape 3"/>
          <p:cNvSpPr/>
          <p:nvPr/>
        </p:nvSpPr>
        <p:spPr>
          <a:xfrm>
            <a:off x="475488" y="1993392"/>
            <a:ext cx="457200" cy="329184"/>
          </a:xfrm>
          <a:prstGeom prst="roundRect">
            <a:avLst>
              <a:gd name="adj" fmla="val 16667"/>
            </a:avLst>
          </a:prstGeom>
          <a:solidFill>
            <a:srgbClr val="1A56DB"/>
          </a:solidFill>
          <a:ln/>
        </p:spPr>
      </p:sp>
      <p:sp>
        <p:nvSpPr>
          <p:cNvPr id="6" name="Text 4"/>
          <p:cNvSpPr/>
          <p:nvPr/>
        </p:nvSpPr>
        <p:spPr>
          <a:xfrm>
            <a:off x="475488" y="1993392"/>
            <a:ext cx="457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423160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Market Analysis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999232"/>
            <a:ext cx="1325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DCFC"/>
                </a:solidFill>
              </a:rPr>
              <a:t>TAM/SAM/SOM · Personas · Competitive matrix · SWOT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057400" y="1874520"/>
            <a:ext cx="1508760" cy="2651760"/>
          </a:xfrm>
          <a:prstGeom prst="roundRect">
            <a:avLst>
              <a:gd name="adj" fmla="val 7273"/>
            </a:avLst>
          </a:prstGeom>
          <a:solidFill>
            <a:srgbClr val="1E3A6E"/>
          </a:solidFill>
          <a:ln/>
        </p:spPr>
      </p:sp>
      <p:sp>
        <p:nvSpPr>
          <p:cNvPr id="10" name="Shape 8"/>
          <p:cNvSpPr/>
          <p:nvPr/>
        </p:nvSpPr>
        <p:spPr>
          <a:xfrm>
            <a:off x="2167128" y="1993392"/>
            <a:ext cx="457200" cy="329184"/>
          </a:xfrm>
          <a:prstGeom prst="roundRect">
            <a:avLst>
              <a:gd name="adj" fmla="val 16667"/>
            </a:avLst>
          </a:prstGeom>
          <a:solidFill>
            <a:srgbClr val="1A56DB"/>
          </a:solidFill>
          <a:ln/>
        </p:spPr>
      </p:sp>
      <p:sp>
        <p:nvSpPr>
          <p:cNvPr id="11" name="Text 9"/>
          <p:cNvSpPr/>
          <p:nvPr/>
        </p:nvSpPr>
        <p:spPr>
          <a:xfrm>
            <a:off x="2167128" y="1993392"/>
            <a:ext cx="457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148840" y="2423160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Data Analysis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148840" y="2999232"/>
            <a:ext cx="1325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DCFC"/>
                </a:solidFill>
              </a:rPr>
              <a:t>$168M leakage identified · Churn by plan · Feature adoption · Geography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749040" y="1874520"/>
            <a:ext cx="1508760" cy="2651760"/>
          </a:xfrm>
          <a:prstGeom prst="roundRect">
            <a:avLst>
              <a:gd name="adj" fmla="val 7273"/>
            </a:avLst>
          </a:prstGeom>
          <a:solidFill>
            <a:srgbClr val="1E3A6E"/>
          </a:solidFill>
          <a:ln/>
        </p:spPr>
      </p:sp>
      <p:sp>
        <p:nvSpPr>
          <p:cNvPr id="15" name="Shape 13"/>
          <p:cNvSpPr/>
          <p:nvPr/>
        </p:nvSpPr>
        <p:spPr>
          <a:xfrm>
            <a:off x="3858768" y="1993392"/>
            <a:ext cx="457200" cy="329184"/>
          </a:xfrm>
          <a:prstGeom prst="roundRect">
            <a:avLst>
              <a:gd name="adj" fmla="val 16667"/>
            </a:avLst>
          </a:prstGeom>
          <a:solidFill>
            <a:srgbClr val="1A56DB"/>
          </a:solidFill>
          <a:ln/>
        </p:spPr>
      </p:sp>
      <p:sp>
        <p:nvSpPr>
          <p:cNvPr id="16" name="Text 14"/>
          <p:cNvSpPr/>
          <p:nvPr/>
        </p:nvSpPr>
        <p:spPr>
          <a:xfrm>
            <a:off x="3858768" y="1993392"/>
            <a:ext cx="457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840480" y="2423160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Case Study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840480" y="2999232"/>
            <a:ext cx="1325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DCFC"/>
                </a:solidFill>
              </a:rPr>
              <a:t>3 root causes · 5 Whys · Impact quantification · 3 recommendations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40680" y="1874520"/>
            <a:ext cx="1508760" cy="2651760"/>
          </a:xfrm>
          <a:prstGeom prst="roundRect">
            <a:avLst>
              <a:gd name="adj" fmla="val 7273"/>
            </a:avLst>
          </a:prstGeom>
          <a:solidFill>
            <a:srgbClr val="1E3A6E"/>
          </a:solidFill>
          <a:ln/>
        </p:spPr>
      </p:sp>
      <p:sp>
        <p:nvSpPr>
          <p:cNvPr id="20" name="Shape 18"/>
          <p:cNvSpPr/>
          <p:nvPr/>
        </p:nvSpPr>
        <p:spPr>
          <a:xfrm>
            <a:off x="5550408" y="1993392"/>
            <a:ext cx="457200" cy="329184"/>
          </a:xfrm>
          <a:prstGeom prst="roundRect">
            <a:avLst>
              <a:gd name="adj" fmla="val 16667"/>
            </a:avLst>
          </a:prstGeom>
          <a:solidFill>
            <a:srgbClr val="1A56DB"/>
          </a:solidFill>
          <a:ln/>
        </p:spPr>
      </p:sp>
      <p:sp>
        <p:nvSpPr>
          <p:cNvPr id="21" name="Text 19"/>
          <p:cNvSpPr/>
          <p:nvPr/>
        </p:nvSpPr>
        <p:spPr>
          <a:xfrm>
            <a:off x="5550408" y="1993392"/>
            <a:ext cx="457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532120" y="2423160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532120" y="2999232"/>
            <a:ext cx="1325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DCFC"/>
                </a:solidFill>
              </a:rPr>
              <a:t>4 user stories · 12 FRs · Edge cases · A/B test plan · Rollout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132320" y="1874520"/>
            <a:ext cx="1508760" cy="2651760"/>
          </a:xfrm>
          <a:prstGeom prst="roundRect">
            <a:avLst>
              <a:gd name="adj" fmla="val 7273"/>
            </a:avLst>
          </a:prstGeom>
          <a:solidFill>
            <a:srgbClr val="1A56DB"/>
          </a:solidFill>
          <a:ln/>
        </p:spPr>
      </p:sp>
      <p:sp>
        <p:nvSpPr>
          <p:cNvPr id="25" name="Shape 23"/>
          <p:cNvSpPr/>
          <p:nvPr/>
        </p:nvSpPr>
        <p:spPr>
          <a:xfrm>
            <a:off x="7242048" y="1993392"/>
            <a:ext cx="45720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7242048" y="1993392"/>
            <a:ext cx="457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56DB"/>
                </a:solidFill>
              </a:rPr>
              <a:t>05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223760" y="2423160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Exec Summary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223760" y="2999232"/>
            <a:ext cx="1325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DCFC"/>
                </a:solidFill>
              </a:rPr>
              <a:t>This deck — synthesising all phases for a recruiter audience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7200" y="464515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DCFC"/>
                </a:solidFill>
              </a:rPr>
              <a:t>Skills demonstrated: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423160" y="4645152"/>
            <a:ext cx="1284732" cy="256032"/>
          </a:xfrm>
          <a:prstGeom prst="roundRect">
            <a:avLst>
              <a:gd name="adj" fmla="val 21429"/>
            </a:avLst>
          </a:prstGeom>
          <a:solidFill>
            <a:srgbClr val="1A56DB"/>
          </a:solidFill>
          <a:ln/>
        </p:spPr>
      </p:sp>
      <p:sp>
        <p:nvSpPr>
          <p:cNvPr id="31" name="Text 29"/>
          <p:cNvSpPr/>
          <p:nvPr/>
        </p:nvSpPr>
        <p:spPr>
          <a:xfrm>
            <a:off x="2423160" y="4645152"/>
            <a:ext cx="12847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Market sizing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799332" y="4645152"/>
            <a:ext cx="1284732" cy="256032"/>
          </a:xfrm>
          <a:prstGeom prst="roundRect">
            <a:avLst>
              <a:gd name="adj" fmla="val 21429"/>
            </a:avLst>
          </a:prstGeom>
          <a:solidFill>
            <a:srgbClr val="1A56DB"/>
          </a:solidFill>
          <a:ln/>
        </p:spPr>
      </p:sp>
      <p:sp>
        <p:nvSpPr>
          <p:cNvPr id="33" name="Text 31"/>
          <p:cNvSpPr/>
          <p:nvPr/>
        </p:nvSpPr>
        <p:spPr>
          <a:xfrm>
            <a:off x="3799332" y="4645152"/>
            <a:ext cx="12847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Data analysis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175504" y="4645152"/>
            <a:ext cx="1751076" cy="256032"/>
          </a:xfrm>
          <a:prstGeom prst="roundRect">
            <a:avLst>
              <a:gd name="adj" fmla="val 21429"/>
            </a:avLst>
          </a:prstGeom>
          <a:solidFill>
            <a:srgbClr val="1A56DB"/>
          </a:solidFill>
          <a:ln/>
        </p:spPr>
      </p:sp>
      <p:sp>
        <p:nvSpPr>
          <p:cNvPr id="35" name="Text 33"/>
          <p:cNvSpPr/>
          <p:nvPr/>
        </p:nvSpPr>
        <p:spPr>
          <a:xfrm>
            <a:off x="5175504" y="4645152"/>
            <a:ext cx="17510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Root cause analysis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018020" y="4645152"/>
            <a:ext cx="1673352" cy="256032"/>
          </a:xfrm>
          <a:prstGeom prst="roundRect">
            <a:avLst>
              <a:gd name="adj" fmla="val 21429"/>
            </a:avLst>
          </a:prstGeom>
          <a:solidFill>
            <a:srgbClr val="1A56DB"/>
          </a:solidFill>
          <a:ln/>
        </p:spPr>
      </p:sp>
      <p:sp>
        <p:nvSpPr>
          <p:cNvPr id="37" name="Text 35"/>
          <p:cNvSpPr/>
          <p:nvPr/>
        </p:nvSpPr>
        <p:spPr>
          <a:xfrm>
            <a:off x="7018020" y="4645152"/>
            <a:ext cx="16733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User story writing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8782812" y="4645152"/>
            <a:ext cx="1362456" cy="256032"/>
          </a:xfrm>
          <a:prstGeom prst="roundRect">
            <a:avLst>
              <a:gd name="adj" fmla="val 21429"/>
            </a:avLst>
          </a:prstGeom>
          <a:solidFill>
            <a:srgbClr val="1A56DB"/>
          </a:solidFill>
          <a:ln/>
        </p:spPr>
      </p:sp>
      <p:sp>
        <p:nvSpPr>
          <p:cNvPr id="39" name="Text 37"/>
          <p:cNvSpPr/>
          <p:nvPr/>
        </p:nvSpPr>
        <p:spPr>
          <a:xfrm>
            <a:off x="8782812" y="4645152"/>
            <a:ext cx="1362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OKR definition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10236708" y="4645152"/>
            <a:ext cx="1440180" cy="256032"/>
          </a:xfrm>
          <a:prstGeom prst="roundRect">
            <a:avLst>
              <a:gd name="adj" fmla="val 21429"/>
            </a:avLst>
          </a:prstGeom>
          <a:solidFill>
            <a:srgbClr val="1A56DB"/>
          </a:solidFill>
          <a:ln/>
        </p:spPr>
      </p:sp>
      <p:sp>
        <p:nvSpPr>
          <p:cNvPr id="41" name="Text 39"/>
          <p:cNvSpPr/>
          <p:nvPr/>
        </p:nvSpPr>
        <p:spPr>
          <a:xfrm>
            <a:off x="10236708" y="4645152"/>
            <a:ext cx="14401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Risk assessment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11768328" y="4645152"/>
            <a:ext cx="2217420" cy="256032"/>
          </a:xfrm>
          <a:prstGeom prst="roundRect">
            <a:avLst>
              <a:gd name="adj" fmla="val 21429"/>
            </a:avLst>
          </a:prstGeom>
          <a:solidFill>
            <a:srgbClr val="1A56DB"/>
          </a:solidFill>
          <a:ln/>
        </p:spPr>
      </p:sp>
      <p:sp>
        <p:nvSpPr>
          <p:cNvPr id="43" name="Text 41"/>
          <p:cNvSpPr/>
          <p:nvPr/>
        </p:nvSpPr>
        <p:spPr>
          <a:xfrm>
            <a:off x="11768328" y="4645152"/>
            <a:ext cx="22174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Stakeholder communication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Notion — Portfolio Case Study</dc:title>
  <dc:subject>PptxGenJS Presentation</dc:subject>
  <dc:creator>BA/PM Portfolio Project</dc:creator>
  <cp:lastModifiedBy>BA/PM Portfolio Project</cp:lastModifiedBy>
  <cp:revision>1</cp:revision>
  <dcterms:created xsi:type="dcterms:W3CDTF">2026-06-27T07:21:42Z</dcterms:created>
  <dcterms:modified xsi:type="dcterms:W3CDTF">2026-06-27T07:21:42Z</dcterms:modified>
</cp:coreProperties>
</file>